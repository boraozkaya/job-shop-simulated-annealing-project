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00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f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95160" y="0"/>
            <a:ext cx="5193792" cy="6858000"/>
          </a:xfrm>
          <a:prstGeom prst="rect">
            <a:avLst/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223760" y="438912"/>
            <a:ext cx="4526280" cy="5742432"/>
          </a:xfrm>
          <a:prstGeom prst="rect">
            <a:avLst/>
          </a:prstGeom>
          <a:solidFill>
            <a:srgbClr val="21443D"/>
          </a:solidFill>
          <a:ln w="12700">
            <a:solidFill>
              <a:srgbClr val="315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04672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D5B"/>
                </a:solidFill>
              </a:rPr>
              <a:t>ENM404 PRODUCTION SCHEDULING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12064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02920" y="859536"/>
            <a:ext cx="59436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Shop Scheduling with Simulated Annealing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5577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</a:rPr>
              <a:t>A benchmark-driven study covering mathematical formulation, from-scratch SA implementation, parameter tuning, convergence analysis, and live code demonstration.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98064"/>
            <a:ext cx="5623560" cy="141732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02920" y="2798064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04088" y="2926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3236976"/>
            <a:ext cx="5303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type: Job Shop Scheduling Problem (JSSP)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Metaheuristic: Simulated Annealing (SA)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minimize makespan (Cmax)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Benchmarks: FT and LA instances from JSPLIB / OR-Library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502920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21"/>
                </a:solidFill>
              </a:rPr>
              <a:t>Group Members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5065776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tr-TR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Bora Özkaya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tr-TR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Rıdvan Dündar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tr-TR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Eren Tokgöz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tr-TR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Tuğçe Soykan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tr-TR" sz="1200" dirty="0" err="1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Şeymanur</a:t>
            </a:r>
            <a:r>
              <a:rPr lang="tr-TR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Bardakçı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79792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Evidence Track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79792" y="1170432"/>
            <a:ext cx="361188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C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Formal JSSP model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C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Operation-sequence decoder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C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Simulated Annealing design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C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Parameter tuning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C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 benchmark instances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C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 runs per instance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C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Convergence and Gantt visuals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79792" y="3794760"/>
            <a:ext cx="3611880" cy="1572768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7479792" y="3794760"/>
            <a:ext cx="73152" cy="15727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680960" y="3922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Compliance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80960" y="4233672"/>
            <a:ext cx="329184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follows the brief structure: introduction, formulation, methodology, setup, results, discussion, conclusion, and live executable demo path.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ENM404 project brief and local experiment workflow.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Shop is harder because every job has its own route.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Unlike flow shop, each job can visit machines in a different technological order. The search must coordinate job precedence and machine capacity at the same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429000" cy="192024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73152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95528" y="22768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587752"/>
            <a:ext cx="31089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operation start times and machine orderings that produce a feasible schedule.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429000" cy="192024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73152" cy="1920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44568" y="22768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4568" y="2587752"/>
            <a:ext cx="31089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machine handles one operation at a time, and every job must follow its operation sequence.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92440" y="2148840"/>
            <a:ext cx="3429000" cy="192024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092440" y="2148840"/>
            <a:ext cx="73152" cy="1920240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293608" y="22768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93608" y="2587752"/>
            <a:ext cx="31089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makespan, Cmax, the completion time of the final operation in the schedule.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005840" y="4709160"/>
            <a:ext cx="9784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Representation: each job id appears once for every operation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Decoder converts a sequence into a feasible schedule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 searches by changing the operation sequence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A8DE81C5-E756-A39E-1806-CB73F61B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29" y="4151376"/>
            <a:ext cx="3704117" cy="21654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solution is feasible only if precedence and machine capacity are both respected.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minimizes Cmax while enforcing route order for each job and no overlap on any machine.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29968"/>
            <a:ext cx="3474720" cy="251460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73152" cy="2514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41248" y="215798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468880"/>
            <a:ext cx="315468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jobs, m machines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p[j,k]: processing time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M[j,k]: required machine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C[j,k]: completion time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Cmax: maximum completion time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34840" y="2029968"/>
            <a:ext cx="3474720" cy="251460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434840" y="2029968"/>
            <a:ext cx="73152" cy="2514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36008" y="215798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6008" y="2468880"/>
            <a:ext cx="315468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Job operation k+1 starts after operation k finishes.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 machine processes one operation at a time.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Operations are non-preemptive.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229600" y="2029968"/>
            <a:ext cx="2971800" cy="251460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229600" y="2029968"/>
            <a:ext cx="73152" cy="2514600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430768" y="21579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30768" y="2468880"/>
            <a:ext cx="265176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Cmax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Cmax = max completion time over all scheduled operations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A0526D56-04CD-2EF7-8050-7F5D5CF3E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324" y="4534871"/>
            <a:ext cx="2428076" cy="18939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 METHOD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Simulated Annealing accepts some worse moves early to escape local traps.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starts from an SPT dispatch sequence, explores swap/insertion/reversal neighbors, and gradually reduces the probability of accepting worse schedules.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3337560" cy="242316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73152" cy="2423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95528" y="21854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496312"/>
            <a:ext cx="301752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SPT dispatch sequence creates a quick feasible baseline. This baseline is intentionally simple, so SA improvement is visible.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251960" y="2057400"/>
            <a:ext cx="3337560" cy="242316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251960" y="2057400"/>
            <a:ext cx="73152" cy="2423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453128" y="21854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Neighborhoods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3128" y="2496312"/>
            <a:ext cx="301752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Swap two positions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one operation token elsewhere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a segment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moves preserve the required number of operations per job.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909560" y="2057400"/>
            <a:ext cx="3337560" cy="242316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909560" y="2057400"/>
            <a:ext cx="73152" cy="2423160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110728" y="21854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Rule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10728" y="2496312"/>
            <a:ext cx="301752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candidate is better, accept it.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worse, accept it with probability exp(-delta / T).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cools every iteration.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Kirkpatrick et al. (1983); local implementation.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7D5EF403-C230-973D-89A7-8A0F3C7D3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426" y="4498996"/>
            <a:ext cx="2948694" cy="1965094"/>
          </a:xfrm>
          <a:prstGeom prst="rect">
            <a:avLst/>
          </a:prstGeom>
        </p:spPr>
      </p:pic>
      <p:pic>
        <p:nvPicPr>
          <p:cNvPr id="24" name="Resim 23">
            <a:extLst>
              <a:ext uri="{FF2B5EF4-FFF2-40B4-BE49-F238E27FC236}">
                <a16:creationId xmlns:a16="http://schemas.microsoft.com/office/drawing/2014/main" id="{8439BD2D-511C-5E1A-5CE1-8D3A6D5B9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30268"/>
            <a:ext cx="3946651" cy="20894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code is structured for both grading and live demonstration.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scripts produce the tables, figures, and demo output used in the presentation.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3429000" cy="224028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73152" cy="2240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95528" y="2002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313432"/>
            <a:ext cx="31089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src/benchmark.py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Loads JSPLIB instances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src/jssp.py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Decodes sequences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Computes schedules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src/sa.py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Runs Simulated Annealing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29000" cy="224028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73152" cy="2240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44568" y="2002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Scripts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4568" y="2313432"/>
            <a:ext cx="31089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run_experiments.py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Tuning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- 10-run experiments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CSV outputs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Chart outputs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build_presentation_assets.py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Slide-ready tables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92440" y="1874520"/>
            <a:ext cx="3429000" cy="224028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092440" y="1874520"/>
            <a:ext cx="73152" cy="2240280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293608" y="2002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93608" y="2313432"/>
            <a:ext cx="31089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demo_run.py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Runs one instance fast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Prints optimum, baseline, best result, gap, accepted moves, and convergence trace.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Recommended  command: python demo_run.py --instance ft10 --iterations 2500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Full reproducibility command: python run_all.py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SET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standard Job Shop instances cover easy through very difficult cases.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FT and LA instances have known optimum references and are included locally in the data folder.</a:t>
            </a:r>
            <a:endParaRPr lang="en-US" sz="1200" dirty="0"/>
          </a:p>
        </p:txBody>
      </p:sp>
      <p:pic>
        <p:nvPicPr>
          <p:cNvPr id="6" name="Image 0" descr="/Users/melihsahin/Documents/Codex/2026-05-10/files-mentioned-by-the-user-project/job-shop-sa-project/outputs/figures/benchmark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1037844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266944"/>
            <a:ext cx="9875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FT06 and LA01 validate small and moderate behavior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FT10 and LA16 test 10x10 difficult cases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LA21 raises scale to 150 operations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JSPLIB / OR-Library benchmark files included under data/raw/.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TUNING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selected SA setting balances solution quality and runtime.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configurations were tested on FT10 and LA16 before running the final benchmark set.</a:t>
            </a:r>
            <a:endParaRPr lang="en-US" sz="1200" dirty="0"/>
          </a:p>
        </p:txBody>
      </p:sp>
      <p:pic>
        <p:nvPicPr>
          <p:cNvPr id="6" name="Image 0" descr="/Users/melihsahin/Documents/Codex/2026-05-10/files-mentioned-by-the-user-project/job-shop-sa-project/outputs/figures/tuning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3"/>
            <a:ext cx="10881360" cy="3154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5193792"/>
            <a:ext cx="3246120" cy="68580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960120" y="5193792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1161288" y="5321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" y="5632704"/>
            <a:ext cx="29260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C3: 4500 iterations, T0 ratio 0.30, cooling 0.996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480560" y="5193792"/>
            <a:ext cx="3246120" cy="68580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4480560" y="5193792"/>
            <a:ext cx="73152" cy="685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4681728" y="5321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81728" y="5632704"/>
            <a:ext cx="29260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tuning score among tested configurations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001000" y="5193792"/>
            <a:ext cx="3246120" cy="68580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8001000" y="5193792"/>
            <a:ext cx="73152" cy="685800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8202168" y="5321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02168" y="5632704"/>
            <a:ext cx="29260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tuning runtime stayed below one second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RESULTS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improves every selected benchmark against the SPT baseline.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instance was run 10 times using the selected tuned configuration.</a:t>
            </a:r>
            <a:endParaRPr lang="en-US" sz="1200" dirty="0"/>
          </a:p>
        </p:txBody>
      </p:sp>
      <p:pic>
        <p:nvPicPr>
          <p:cNvPr id="6" name="Image 0" descr="/Users/melihsahin/Documents/Codex/2026-05-10/files-mentioned-by-the-user-project/job-shop-sa-project/outputs/figures/summary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6" y="1828800"/>
            <a:ext cx="1106424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257800"/>
            <a:ext cx="9966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 reached the known optimum on FT06 and LA01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difficult 10x10 and 15x10 cases keep non-trivial gaps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All reported values come from run_experiments.py outputs</a:t>
            </a:r>
            <a:endParaRPr lang="en-US" sz="1240" dirty="0"/>
          </a:p>
        </p:txBody>
      </p:sp>
      <p:sp>
        <p:nvSpPr>
          <p:cNvPr id="8" name="Shape 5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C1A35EC6-4FF5-DC7A-565E-F1E46B11F2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606" t="32800" r="14168" b="8387"/>
          <a:stretch>
            <a:fillRect/>
          </a:stretch>
        </p:blipFill>
        <p:spPr>
          <a:xfrm>
            <a:off x="6823749" y="3840809"/>
            <a:ext cx="4689289" cy="2701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COMPARISON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baseline is intentionally simple; SA shows the search gain clearly.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gap versus the known optimum drops sharply across all selected instances.</a:t>
            </a:r>
            <a:endParaRPr lang="en-US" sz="1200" dirty="0"/>
          </a:p>
        </p:txBody>
      </p:sp>
      <p:pic>
        <p:nvPicPr>
          <p:cNvPr id="6" name="Image 0" descr="/Users/melihsahin/Documents/Codex/2026-05-10/files-mentioned-by-the-user-project/job-shop-sa-project/outputs/figures/gap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6232"/>
            <a:ext cx="1024128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DYNAMICS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improvement happens early, then cooling stabilizes the search.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Convergence and temperature plots show how SA moves from exploration toward refinement.</a:t>
            </a:r>
            <a:endParaRPr lang="en-US" sz="1200" dirty="0"/>
          </a:p>
        </p:txBody>
      </p:sp>
      <p:pic>
        <p:nvPicPr>
          <p:cNvPr id="6" name="Image 0" descr="/Users/melihsahin/Documents/Codex/2026-05-10/files-mentioned-by-the-user-project/job-shop-sa-project/outputs/figures/convergenc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65376"/>
            <a:ext cx="5715000" cy="4389120"/>
          </a:xfrm>
          <a:prstGeom prst="rect">
            <a:avLst/>
          </a:prstGeom>
        </p:spPr>
      </p:pic>
      <p:pic>
        <p:nvPicPr>
          <p:cNvPr id="7" name="Image 1" descr="/Users/melihsahin/Documents/Codex/2026-05-10/files-mentioned-by-the-user-project/job-shop-sa-project/outputs/figures/temperature_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280" y="1865376"/>
            <a:ext cx="5257800" cy="4389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GANTT PROOF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schedule visual confirms that the decoder creates feasible machine timelines.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FT06 Gantt charts compare the SPT baseline and the best SA schedule from the experiment output.</a:t>
            </a:r>
            <a:endParaRPr lang="en-US" sz="1200" dirty="0"/>
          </a:p>
        </p:txBody>
      </p:sp>
      <p:pic>
        <p:nvPicPr>
          <p:cNvPr id="6" name="Image 0" descr="/Users/melihsahin/Documents/Codex/2026-05-10/files-mentioned-by-the-user-project/job-shop-sa-project/outputs/figures/gantt_ft06_s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6232"/>
            <a:ext cx="5440680" cy="4251960"/>
          </a:xfrm>
          <a:prstGeom prst="rect">
            <a:avLst/>
          </a:prstGeom>
        </p:spPr>
      </p:pic>
      <p:pic>
        <p:nvPicPr>
          <p:cNvPr id="7" name="Image 1" descr="/Users/melihsahin/Documents/Codex/2026-05-10/files-mentioned-by-the-user-project/job-shop-sa-project/outputs/figures/gantt_ft06_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856232"/>
            <a:ext cx="5440680" cy="4251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23160" y="57972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6760"/>
                </a:solidFill>
              </a:rPr>
              <a:t>SPT baseline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138160" y="57972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6760"/>
                </a:solidFill>
              </a:rPr>
              <a:t>Best SA schedule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7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implementation is complete, reproducible, and strong enough for live explanation.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classroom story is how SA moves from a simple dispatch schedule to a tuned benchmark result.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3337560" cy="251460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73152" cy="2514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932688" y="20939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404872"/>
            <a:ext cx="30175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Reached optimum on FT06 and LA01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all baselines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enough for live demo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outputs are generated by code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337560" cy="251460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434840" y="1965960"/>
            <a:ext cx="73152" cy="2514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36008" y="20939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6008" y="2404872"/>
            <a:ext cx="30175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Cooling parameters matter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instances retain gaps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 is reproducible but not a critical-path specialist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337560" cy="251460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73152" cy="2514600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339328" y="20939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Present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9328" y="2404872"/>
            <a:ext cx="30175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deck first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demo_run.py live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SPT baseline, best found, gap, and convergence trace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01168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04672" y="338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 is ready for submission and live code demonstration.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8778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package contains the deck, source code, real benchmark data, generated outputs, and a short demo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83280" cy="219456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73152" cy="2194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978408" y="19568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267712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presentation/job-shop-sa-final.pptx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docs/final_summary.md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outputs/tables/*.csv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outputs/figures/*.png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383280" cy="219456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73152" cy="21945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36008" y="19568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Commands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6008" y="2267712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demo_run.py --instance ft10 --iterations 2500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run_all.py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383280" cy="2194560"/>
          </a:xfrm>
          <a:prstGeom prst="rect">
            <a:avLst/>
          </a:prstGeom>
          <a:solidFill>
            <a:srgbClr val="FFFDF7"/>
          </a:solidFill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092440" y="1828800"/>
            <a:ext cx="73152" cy="2194560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293608" y="19568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Members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93608" y="2267712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tr-TR" sz="1020" dirty="0">
                <a:solidFill>
                  <a:srgbClr val="596760"/>
                </a:solidFill>
                <a:latin typeface="Aptos" pitchFamily="34" charset="0"/>
              </a:rPr>
              <a:t>Bora Özkaya</a:t>
            </a:r>
            <a:endParaRPr lang="en-US" sz="1020" dirty="0"/>
          </a:p>
          <a:p>
            <a:pPr marL="0" indent="0">
              <a:buNone/>
            </a:pPr>
            <a:r>
              <a:rPr lang="tr-TR" sz="1020" dirty="0">
                <a:solidFill>
                  <a:srgbClr val="596760"/>
                </a:solidFill>
                <a:latin typeface="Aptos" pitchFamily="34" charset="0"/>
              </a:rPr>
              <a:t>Rıdvan Dündar</a:t>
            </a:r>
          </a:p>
          <a:p>
            <a:pPr marL="0" indent="0">
              <a:buNone/>
            </a:pPr>
            <a:r>
              <a:rPr lang="tr-TR" sz="1020" dirty="0">
                <a:solidFill>
                  <a:srgbClr val="596760"/>
                </a:solidFill>
                <a:latin typeface="Aptos" pitchFamily="34" charset="0"/>
              </a:rPr>
              <a:t>Eren Tokgöz</a:t>
            </a:r>
          </a:p>
          <a:p>
            <a:pPr marL="0" indent="0">
              <a:buNone/>
            </a:pPr>
            <a:r>
              <a:rPr lang="tr-TR" sz="1020" dirty="0">
                <a:solidFill>
                  <a:srgbClr val="596760"/>
                </a:solidFill>
                <a:latin typeface="Aptos" pitchFamily="34" charset="0"/>
              </a:rPr>
              <a:t>Tuğçe Soykan</a:t>
            </a:r>
          </a:p>
          <a:p>
            <a:pPr marL="0" indent="0">
              <a:buNone/>
            </a:pPr>
            <a:r>
              <a:rPr lang="tr-TR" sz="1020" dirty="0" err="1">
                <a:solidFill>
                  <a:srgbClr val="596760"/>
                </a:solidFill>
                <a:latin typeface="Aptos" pitchFamily="34" charset="0"/>
              </a:rPr>
              <a:t>Şeymanur</a:t>
            </a:r>
            <a:r>
              <a:rPr lang="tr-TR" sz="1020" dirty="0">
                <a:solidFill>
                  <a:srgbClr val="596760"/>
                </a:solidFill>
                <a:latin typeface="Aptos" pitchFamily="34" charset="0"/>
              </a:rPr>
              <a:t> Bardakçı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005840" y="491947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521"/>
                </a:solidFill>
              </a:rPr>
              <a:t>All visual evidence in the deck is generated from the local experiment outputs.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9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Local Python experiments, JSPLIB / OR-Library benchmarks.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1270</Words>
  <Application>Microsoft Office PowerPoint</Application>
  <PresentationFormat>Geniş ekran</PresentationFormat>
  <Paragraphs>202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Aptos</vt:lpstr>
      <vt:lpstr>Arial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ENM404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Shop Scheduling with Simulated Annealing</dc:title>
  <dc:subject>Job Shop Scheduling with Simulated Annealing</dc:subject>
  <dc:creator>ENM404 Project Group</dc:creator>
  <cp:lastModifiedBy>BORA OZKAYA</cp:lastModifiedBy>
  <cp:revision>10</cp:revision>
  <dcterms:created xsi:type="dcterms:W3CDTF">2026-05-12T11:11:11Z</dcterms:created>
  <dcterms:modified xsi:type="dcterms:W3CDTF">2026-05-22T12:11:02Z</dcterms:modified>
</cp:coreProperties>
</file>